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Open Sans SemiBold"/>
      <p:regular r:id="rId17"/>
      <p:bold r:id="rId18"/>
      <p:italic r:id="rId19"/>
      <p:boldItalic r:id="rId20"/>
    </p:embeddedFont>
    <p:embeddedFont>
      <p:font typeface="Rajdhani"/>
      <p:regular r:id="rId21"/>
      <p:bold r:id="rId22"/>
    </p:embeddedFont>
    <p:embeddedFont>
      <p:font typeface="Open Sans Light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B11353-2089-488B-871E-E4362FB29F9F}">
  <a:tblStyle styleId="{9FB11353-2089-488B-871E-E4362FB29F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boldItalic.fntdata"/><Relationship Id="rId22" Type="http://schemas.openxmlformats.org/officeDocument/2006/relationships/font" Target="fonts/Rajdhani-bold.fntdata"/><Relationship Id="rId21" Type="http://schemas.openxmlformats.org/officeDocument/2006/relationships/font" Target="fonts/Rajdhani-regular.fntdata"/><Relationship Id="rId24" Type="http://schemas.openxmlformats.org/officeDocument/2006/relationships/font" Target="fonts/OpenSansLight-bold.fntdata"/><Relationship Id="rId23" Type="http://schemas.openxmlformats.org/officeDocument/2006/relationships/font" Target="fonts/OpenSans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penSansLight-boldItalic.fntdata"/><Relationship Id="rId25" Type="http://schemas.openxmlformats.org/officeDocument/2006/relationships/font" Target="fonts/OpenSansLight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OpenSansSemiBold-regular.fntdata"/><Relationship Id="rId16" Type="http://schemas.openxmlformats.org/officeDocument/2006/relationships/slide" Target="slides/slide9.xml"/><Relationship Id="rId19" Type="http://schemas.openxmlformats.org/officeDocument/2006/relationships/font" Target="fonts/OpenSansSemiBold-italic.fntdata"/><Relationship Id="rId18" Type="http://schemas.openxmlformats.org/officeDocument/2006/relationships/font" Target="fonts/Open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e441d376a0_3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e441d376a0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7b40fda7b3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7b40fda7b3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b40fda7b3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7b40fda7b3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e41d579b3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e41d579b3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41d579b3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e41d579b3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e17a6a081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e17a6a081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e3e76c5244_1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e3e76c5244_1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060ee565e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1060ee565e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48bfaac81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c48bfaac81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5720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" name="Google Shape;4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45" name="Google Shape;4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9" name="Google Shape;49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63" name="Google Shape;63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69" name="Google Shape;69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" name="Google Shape;70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5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82" name="Google Shape;82;p28"/>
          <p:cNvPicPr preferRelativeResize="0"/>
          <p:nvPr/>
        </p:nvPicPr>
        <p:blipFill rotWithShape="1">
          <a:blip r:embed="rId3">
            <a:alphaModFix/>
          </a:blip>
          <a:srcRect b="0" l="5658" r="5649" t="0"/>
          <a:stretch/>
        </p:blipFill>
        <p:spPr>
          <a:xfrm>
            <a:off x="5888950" y="3624550"/>
            <a:ext cx="2675822" cy="11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 flipH="1" rot="10800000">
            <a:off x="-15600" y="4860825"/>
            <a:ext cx="9175200" cy="54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" name="Google Shape;7;p1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Actividad integradora</a:t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reepik.es/vector-gratis/ilustracion-concepto-diagrama-flujo-usuarios_7407437.htm#page=2&amp;position=2#&amp;position=2" TargetMode="External"/><Relationship Id="rId4" Type="http://schemas.openxmlformats.org/officeDocument/2006/relationships/image" Target="../media/image3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/>
        </p:nvSpPr>
        <p:spPr>
          <a:xfrm>
            <a:off x="1638625" y="1536225"/>
            <a:ext cx="70314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6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endParaRPr b="1" sz="46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6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integradora</a:t>
            </a:r>
            <a:endParaRPr b="1" sz="46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0"/>
          <p:cNvSpPr txBox="1"/>
          <p:nvPr/>
        </p:nvSpPr>
        <p:spPr>
          <a:xfrm>
            <a:off x="757775" y="1327025"/>
            <a:ext cx="39330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Vamos a aplicar mucho de lo aprendido en esta semana</a:t>
            </a:r>
            <a:r>
              <a:rPr i="0" lang="es" sz="15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.</a:t>
            </a:r>
            <a:endParaRPr i="0" sz="1500" u="none" cap="none" strike="noStrike">
              <a:solidFill>
                <a:schemeClr val="dk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Para esto cada mesa de trabajo deberá investigar </a:t>
            </a:r>
            <a:r>
              <a:rPr lang="es" sz="15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qué</a:t>
            </a:r>
            <a:r>
              <a:rPr lang="es" sz="15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puerto —o puertos— utilizan las siguientes aplicaciones. Además, deberán agregar tres aplicaciones más.</a:t>
            </a:r>
            <a:b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30"/>
          <p:cNvSpPr txBox="1"/>
          <p:nvPr/>
        </p:nvSpPr>
        <p:spPr>
          <a:xfrm>
            <a:off x="757775" y="60732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Consigna para trabajo en clase</a:t>
            </a:r>
            <a:endParaRPr b="1" i="0" sz="30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94" name="Google Shape;94;p3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600" y="1442800"/>
            <a:ext cx="2975275" cy="29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31"/>
          <p:cNvGraphicFramePr/>
          <p:nvPr/>
        </p:nvGraphicFramePr>
        <p:xfrm>
          <a:off x="897625" y="15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{9FB11353-2089-488B-871E-E4362FB29F9F}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37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Zoom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80, 443, 8801, 8802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UDP: 3478, 3479, 8801 - 8810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highlight>
                          <a:srgbClr val="FFFFFF"/>
                        </a:highlight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Discord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443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UDP: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Puerto aleatorio entre 50.000 y 65.535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Google Meet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 /UDP: 443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WhatsApp</a:t>
                      </a: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 Web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5222, 5223, 5228, 524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UDP: 3478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100" name="Google Shape;1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725" y="1810425"/>
            <a:ext cx="924700" cy="9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0075" y="1857637"/>
            <a:ext cx="830288" cy="83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7300" y="1810425"/>
            <a:ext cx="924700" cy="9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8925" y="1768500"/>
            <a:ext cx="1005201" cy="100855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1"/>
          <p:cNvSpPr txBox="1"/>
          <p:nvPr/>
        </p:nvSpPr>
        <p:spPr>
          <a:xfrm>
            <a:off x="757775" y="60732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Aplicaciones a investigar</a:t>
            </a:r>
            <a:endParaRPr b="1" i="0" sz="30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063" y="1958975"/>
            <a:ext cx="1410008" cy="6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9840" y="1816250"/>
            <a:ext cx="1410001" cy="9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6350" y="1779831"/>
            <a:ext cx="1409999" cy="98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9725" y="1707825"/>
            <a:ext cx="1325225" cy="1129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p32"/>
          <p:cNvGraphicFramePr/>
          <p:nvPr/>
        </p:nvGraphicFramePr>
        <p:xfrm>
          <a:off x="897600" y="152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{9FB11353-2089-488B-871E-E4362FB29F9F}</a:tableStyleId>
              </a:tblPr>
              <a:tblGrid>
                <a:gridCol w="1806750"/>
                <a:gridCol w="1806750"/>
                <a:gridCol w="1806750"/>
                <a:gridCol w="1806750"/>
              </a:tblGrid>
              <a:tr h="121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MySQL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PUERTO POR DEFECTO: 3306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highlight>
                          <a:srgbClr val="FFFFFF"/>
                        </a:highlight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Git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Puerto dedicado 9418 y da un servicio similar al protocolo SSH pero sin autentificación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600">
                          <a:solidFill>
                            <a:schemeClr val="dk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Secure Sockets Layer (SSL)</a:t>
                      </a:r>
                      <a:endParaRPr b="1" sz="18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SSL es una tecnología estándar de seguridad que facilita la transferencia de datos cifrados entre un cliente y un servidor.</a:t>
                      </a:r>
                      <a:endParaRPr b="1" sz="13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443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HTTP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HTTP: puerto 80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HTTPS: 443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32"/>
          <p:cNvSpPr txBox="1"/>
          <p:nvPr/>
        </p:nvSpPr>
        <p:spPr>
          <a:xfrm>
            <a:off x="757775" y="60732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Aplicaciones a investigar</a:t>
            </a:r>
            <a:endParaRPr b="1" i="0" sz="30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125" y="1810425"/>
            <a:ext cx="924700" cy="9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938" y="1768500"/>
            <a:ext cx="909250" cy="100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75" y="1825900"/>
            <a:ext cx="909225" cy="9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3950" y="1847590"/>
            <a:ext cx="865850" cy="8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3"/>
          <p:cNvSpPr txBox="1"/>
          <p:nvPr/>
        </p:nvSpPr>
        <p:spPr>
          <a:xfrm>
            <a:off x="757775" y="60732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Aplicaciones a investigar</a:t>
            </a:r>
            <a:endParaRPr b="1" i="0" sz="30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aphicFrame>
        <p:nvGraphicFramePr>
          <p:cNvPr id="124" name="Google Shape;124;p33"/>
          <p:cNvGraphicFramePr/>
          <p:nvPr/>
        </p:nvGraphicFramePr>
        <p:xfrm>
          <a:off x="897625" y="15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{9FB11353-2089-488B-871E-E4362FB29F9F}</a:tableStyleId>
              </a:tblPr>
              <a:tblGrid>
                <a:gridCol w="1823400"/>
                <a:gridCol w="1823400"/>
                <a:gridCol w="1823400"/>
                <a:gridCol w="1823400"/>
              </a:tblGrid>
              <a:tr h="128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VirtualBox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Cuando creamos una máquina virtual, por defecto se le asigna una red de tipo NAT. La dirección IP de esta máquina será privada y asignada por el propio VirtualBox que actúa como servidor DHCP. </a:t>
                      </a:r>
                      <a:endParaRPr b="1" sz="10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DHCP: 67/UDP (servidor) 68/UDP (cliente)</a:t>
                      </a:r>
                      <a:endParaRPr b="1" sz="10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VPN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1025 - 49515 son los puertos comprendidos que utilizan los VPN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Microsoft Outlook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443, 80, 143, 993, 110, 995, 587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File Transfer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Protocol (FTP)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20 DATA, 21 CONTROL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950" y="1846406"/>
            <a:ext cx="1005200" cy="85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175" y="1958963"/>
            <a:ext cx="1379343" cy="6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4"/>
          <p:cNvPicPr preferRelativeResize="0"/>
          <p:nvPr/>
        </p:nvPicPr>
        <p:blipFill rotWithShape="1">
          <a:blip r:embed="rId5">
            <a:alphaModFix/>
          </a:blip>
          <a:srcRect b="9461" l="29648" r="32257" t="0"/>
          <a:stretch/>
        </p:blipFill>
        <p:spPr>
          <a:xfrm>
            <a:off x="4926550" y="1566925"/>
            <a:ext cx="941923" cy="125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7600" y="1797262"/>
            <a:ext cx="1306224" cy="95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4"/>
          <p:cNvSpPr txBox="1"/>
          <p:nvPr/>
        </p:nvSpPr>
        <p:spPr>
          <a:xfrm>
            <a:off x="757775" y="60732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Aplicaciones a investigar</a:t>
            </a:r>
            <a:endParaRPr b="1" i="0" sz="30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aphicFrame>
        <p:nvGraphicFramePr>
          <p:cNvPr id="134" name="Google Shape;134;p34"/>
          <p:cNvGraphicFramePr/>
          <p:nvPr/>
        </p:nvGraphicFramePr>
        <p:xfrm>
          <a:off x="897625" y="15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{9FB11353-2089-488B-871E-E4362FB29F9F}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37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Microsoft Word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443, 80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highlight>
                          <a:srgbClr val="FFFFFF"/>
                        </a:highlight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Skype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443, 1000-10000, 50000-65000, 16000-36000</a:t>
                      </a:r>
                      <a:endParaRPr b="1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UDP: 3478-3481</a:t>
                      </a:r>
                      <a:endParaRPr b="1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UDP: 50000-60000</a:t>
                      </a:r>
                      <a:endParaRPr b="1" sz="13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Epic Games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TCP/UDP: 53, 80, 443, 5795, 99, 5222, 5800, 5847 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FIFA 21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19335, 3478-3480, 3659, 10000-10009, 42127.</a:t>
                      </a:r>
                      <a:endParaRPr b="1" sz="15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UDP: 3074, 3478-3479, 3659, 6000</a:t>
                      </a:r>
                      <a:endParaRPr b="1" sz="15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850" y="1810425"/>
            <a:ext cx="924700" cy="9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724" y="1867823"/>
            <a:ext cx="1213299" cy="80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2950" y="1761012"/>
            <a:ext cx="1557046" cy="10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5"/>
          <p:cNvSpPr txBox="1"/>
          <p:nvPr/>
        </p:nvSpPr>
        <p:spPr>
          <a:xfrm>
            <a:off x="757775" y="60732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Aplicaciones a investigar</a:t>
            </a:r>
            <a:endParaRPr b="1" i="0" sz="30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aphicFrame>
        <p:nvGraphicFramePr>
          <p:cNvPr id="143" name="Google Shape;143;p35"/>
          <p:cNvGraphicFramePr/>
          <p:nvPr/>
        </p:nvGraphicFramePr>
        <p:xfrm>
          <a:off x="897625" y="15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{9FB11353-2089-488B-871E-E4362FB29F9F}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37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Spotify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</a:t>
                      </a:r>
                      <a:r>
                        <a:rPr b="1" lang="es" sz="13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80, 443, 445, 3445, 1400, 3400, 4070, 4444.</a:t>
                      </a:r>
                      <a:endParaRPr b="1" sz="13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UDP: 136-139, 1900-1091, 2869, 10243, 10280-10284, 5353, 6969.</a:t>
                      </a:r>
                      <a:endParaRPr b="1" sz="1300">
                        <a:solidFill>
                          <a:srgbClr val="434343"/>
                        </a:solidFill>
                        <a:highlight>
                          <a:srgbClr val="FFFFFF"/>
                        </a:highlight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TeamViewer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 /UDC: 5938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Netflix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443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BitTorrent: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6881, 696951400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144" name="Google Shape;144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7450" y="2013550"/>
            <a:ext cx="1729575" cy="51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36"/>
          <p:cNvGraphicFramePr/>
          <p:nvPr/>
        </p:nvGraphicFramePr>
        <p:xfrm>
          <a:off x="897625" y="15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{9FB11353-2089-488B-871E-E4362FB29F9F}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37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OpenVPN: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TCP/UDP: 1194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highlight>
                          <a:srgbClr val="FFFFFF"/>
                        </a:highlight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FaceTIme: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TCP: 443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434343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UDP: 23,</a:t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34343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36"/>
          <p:cNvSpPr txBox="1"/>
          <p:nvPr/>
        </p:nvSpPr>
        <p:spPr>
          <a:xfrm>
            <a:off x="757775" y="60732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" sz="30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Aplicaciones a investigar</a:t>
            </a:r>
            <a:endParaRPr b="1" i="0" sz="30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51" name="Google Shape;15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625" y="2149425"/>
            <a:ext cx="1744000" cy="3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8250" y="1936463"/>
            <a:ext cx="1517775" cy="7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