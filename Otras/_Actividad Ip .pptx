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7" r:id="rId1"/>
    <p:sldMasterId id="2147483688" r:id="rId2"/>
    <p:sldMasterId id="2147483689" r:id="rId3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5" r:id="rId10"/>
    <p:sldId id="262" r:id="rId11"/>
    <p:sldId id="263" r:id="rId12"/>
    <p:sldId id="264" r:id="rId13"/>
  </p:sldIdLst>
  <p:sldSz cx="9144000" cy="5143500" type="screen16x9"/>
  <p:notesSz cx="6858000" cy="9144000"/>
  <p:embeddedFontLst>
    <p:embeddedFont>
      <p:font typeface="Open Sans" panose="020B0604020202020204" charset="0"/>
      <p:regular r:id="rId15"/>
      <p:bold r:id="rId16"/>
      <p:italic r:id="rId17"/>
      <p:boldItalic r:id="rId18"/>
    </p:embeddedFont>
    <p:embeddedFont>
      <p:font typeface="Rajdhani" panose="020B0604020202020204" charset="0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75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4.fntdata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font" Target="fonts/font5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c48bfaac81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c48bfaac81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c48bfaac81_0_4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c48bfaac81_0_4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c316d6937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c316d6937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7b40fda7b3_4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7b40fda7b3_4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e182e789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e182e789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e182e789c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e182e789c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e41d579b3d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ge41d579b3d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d951d8317c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d951d8317c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c48bfaac81_0_4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gc48bfaac81_0_4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>
            <a:spLocks noGrp="1"/>
          </p:cNvSpPr>
          <p:nvPr>
            <p:ph type="title"/>
          </p:nvPr>
        </p:nvSpPr>
        <p:spPr>
          <a:xfrm>
            <a:off x="3519224" y="988675"/>
            <a:ext cx="5237700" cy="28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pic>
        <p:nvPicPr>
          <p:cNvPr id="8" name="Google Shape;8;p2"/>
          <p:cNvPicPr preferRelativeResize="0"/>
          <p:nvPr/>
        </p:nvPicPr>
        <p:blipFill rotWithShape="1">
          <a:blip r:embed="rId3">
            <a:alphaModFix/>
          </a:blip>
          <a:srcRect l="5658" r="5649"/>
          <a:stretch/>
        </p:blipFill>
        <p:spPr>
          <a:xfrm>
            <a:off x="5888950" y="3624550"/>
            <a:ext cx="2675822" cy="111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/>
          <p:nvPr/>
        </p:nvSpPr>
        <p:spPr>
          <a:xfrm>
            <a:off x="4572000" y="-125"/>
            <a:ext cx="4572000" cy="468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37" name="Google Shape;37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1">
  <p:cSld name="CUSTOM_1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4"/>
          <p:cNvSpPr/>
          <p:nvPr/>
        </p:nvSpPr>
        <p:spPr>
          <a:xfrm>
            <a:off x="-148900" y="-94750"/>
            <a:ext cx="9488400" cy="5360100"/>
          </a:xfrm>
          <a:prstGeom prst="rect">
            <a:avLst/>
          </a:prstGeom>
          <a:solidFill>
            <a:srgbClr val="33383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" name="Google Shape;41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41700" y="2367187"/>
            <a:ext cx="2355801" cy="56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/>
          <p:nvPr/>
        </p:nvSpPr>
        <p:spPr>
          <a:xfrm>
            <a:off x="4572000" y="-125"/>
            <a:ext cx="4572000" cy="468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2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2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p2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1">
  <p:cSld name="CUSTOM_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7"/>
          <p:cNvSpPr/>
          <p:nvPr/>
        </p:nvSpPr>
        <p:spPr>
          <a:xfrm>
            <a:off x="-148900" y="-94750"/>
            <a:ext cx="9488400" cy="5360100"/>
          </a:xfrm>
          <a:prstGeom prst="rect">
            <a:avLst/>
          </a:prstGeom>
          <a:solidFill>
            <a:srgbClr val="33383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41700" y="2367187"/>
            <a:ext cx="2355801" cy="56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8"/>
          <p:cNvSpPr txBox="1">
            <a:spLocks noGrp="1"/>
          </p:cNvSpPr>
          <p:nvPr>
            <p:ph type="title"/>
          </p:nvPr>
        </p:nvSpPr>
        <p:spPr>
          <a:xfrm>
            <a:off x="3519224" y="988675"/>
            <a:ext cx="5237700" cy="28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pic>
        <p:nvPicPr>
          <p:cNvPr id="81" name="Google Shape;81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65149" y="3700742"/>
            <a:ext cx="2416852" cy="100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1">
  <p:cSld name="CUSTOM_1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0"/>
          <p:cNvSpPr/>
          <p:nvPr/>
        </p:nvSpPr>
        <p:spPr>
          <a:xfrm>
            <a:off x="-148900" y="-94750"/>
            <a:ext cx="9488400" cy="5360100"/>
          </a:xfrm>
          <a:prstGeom prst="rect">
            <a:avLst/>
          </a:prstGeom>
          <a:solidFill>
            <a:srgbClr val="33383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41700" y="2367187"/>
            <a:ext cx="2355801" cy="56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3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0" name="Google Shape;100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3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" name="Google Shape;109;p3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8"/>
          <p:cNvSpPr/>
          <p:nvPr/>
        </p:nvSpPr>
        <p:spPr>
          <a:xfrm>
            <a:off x="4572000" y="-125"/>
            <a:ext cx="4572000" cy="468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" name="Google Shape;115;p3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" name="Google Shape;116;p3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121" name="Google Shape;121;p4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2"/>
          <p:cNvSpPr txBox="1">
            <a:spLocks noGrp="1"/>
          </p:cNvSpPr>
          <p:nvPr>
            <p:ph type="title"/>
          </p:nvPr>
        </p:nvSpPr>
        <p:spPr>
          <a:xfrm>
            <a:off x="3519224" y="988675"/>
            <a:ext cx="5237700" cy="28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pic>
        <p:nvPicPr>
          <p:cNvPr id="125" name="Google Shape;125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65149" y="3700742"/>
            <a:ext cx="2416852" cy="100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"/>
          <p:cNvSpPr/>
          <p:nvPr/>
        </p:nvSpPr>
        <p:spPr>
          <a:xfrm>
            <a:off x="-15600" y="4856100"/>
            <a:ext cx="9175200" cy="332100"/>
          </a:xfrm>
          <a:prstGeom prst="rect">
            <a:avLst/>
          </a:prstGeom>
          <a:solidFill>
            <a:srgbClr val="EC18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5"/>
          <p:cNvSpPr txBox="1"/>
          <p:nvPr/>
        </p:nvSpPr>
        <p:spPr>
          <a:xfrm>
            <a:off x="111657" y="4953600"/>
            <a:ext cx="21879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Actividad </a:t>
            </a:r>
            <a:r>
              <a:rPr lang="es"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integradora</a:t>
            </a:r>
            <a:endParaRPr sz="9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5" name="Google Shape;45;p15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074225" y="4931037"/>
            <a:ext cx="764551" cy="18222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" name="Google Shape;83;p29"/>
          <p:cNvCxnSpPr/>
          <p:nvPr/>
        </p:nvCxnSpPr>
        <p:spPr>
          <a:xfrm>
            <a:off x="719925" y="-8000"/>
            <a:ext cx="8100" cy="4879500"/>
          </a:xfrm>
          <a:prstGeom prst="straightConnector1">
            <a:avLst/>
          </a:prstGeom>
          <a:noFill/>
          <a:ln w="9525" cap="flat" cmpd="sng">
            <a:solidFill>
              <a:srgbClr val="FCD8D6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84" name="Google Shape;84;p29"/>
          <p:cNvCxnSpPr/>
          <p:nvPr/>
        </p:nvCxnSpPr>
        <p:spPr>
          <a:xfrm>
            <a:off x="8419950" y="-8000"/>
            <a:ext cx="8100" cy="4879500"/>
          </a:xfrm>
          <a:prstGeom prst="straightConnector1">
            <a:avLst/>
          </a:prstGeom>
          <a:noFill/>
          <a:ln w="9525" cap="flat" cmpd="sng">
            <a:solidFill>
              <a:srgbClr val="FCD8D6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85" name="Google Shape;85;p29"/>
          <p:cNvCxnSpPr/>
          <p:nvPr/>
        </p:nvCxnSpPr>
        <p:spPr>
          <a:xfrm rot="10800000" flipH="1">
            <a:off x="-8000" y="1178475"/>
            <a:ext cx="9175200" cy="5400"/>
          </a:xfrm>
          <a:prstGeom prst="straightConnector1">
            <a:avLst/>
          </a:prstGeom>
          <a:noFill/>
          <a:ln w="9525" cap="flat" cmpd="sng">
            <a:solidFill>
              <a:srgbClr val="FCD8D6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86" name="Google Shape;86;p29"/>
          <p:cNvCxnSpPr/>
          <p:nvPr/>
        </p:nvCxnSpPr>
        <p:spPr>
          <a:xfrm rot="10800000" flipH="1">
            <a:off x="-15600" y="4860825"/>
            <a:ext cx="9175200" cy="5400"/>
          </a:xfrm>
          <a:prstGeom prst="straightConnector1">
            <a:avLst/>
          </a:prstGeom>
          <a:noFill/>
          <a:ln w="9525" cap="flat" cmpd="sng">
            <a:solidFill>
              <a:srgbClr val="FCD8D6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87" name="Google Shape;87;p29"/>
          <p:cNvSpPr/>
          <p:nvPr/>
        </p:nvSpPr>
        <p:spPr>
          <a:xfrm>
            <a:off x="-15600" y="4856100"/>
            <a:ext cx="9175200" cy="332100"/>
          </a:xfrm>
          <a:prstGeom prst="rect">
            <a:avLst/>
          </a:prstGeom>
          <a:solidFill>
            <a:srgbClr val="EC18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9"/>
          <p:cNvSpPr txBox="1"/>
          <p:nvPr/>
        </p:nvSpPr>
        <p:spPr>
          <a:xfrm>
            <a:off x="111657" y="4953600"/>
            <a:ext cx="21879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Título del ppt</a:t>
            </a:r>
            <a:endParaRPr sz="9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9" name="Google Shape;89;p29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074225" y="4931037"/>
            <a:ext cx="764551" cy="18222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acvendors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3"/>
          <p:cNvSpPr txBox="1">
            <a:spLocks noGrp="1"/>
          </p:cNvSpPr>
          <p:nvPr>
            <p:ph type="title"/>
          </p:nvPr>
        </p:nvSpPr>
        <p:spPr>
          <a:xfrm>
            <a:off x="4289805" y="1256945"/>
            <a:ext cx="4058100" cy="28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180000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lang="es">
                <a:solidFill>
                  <a:schemeClr val="lt1"/>
                </a:solidFill>
              </a:rPr>
              <a:t>Conociendo</a:t>
            </a:r>
            <a:br>
              <a:rPr lang="es">
                <a:solidFill>
                  <a:schemeClr val="lt1"/>
                </a:solidFill>
              </a:rPr>
            </a:br>
            <a:r>
              <a:rPr lang="es">
                <a:solidFill>
                  <a:schemeClr val="lt1"/>
                </a:solidFill>
              </a:rPr>
              <a:t>mis direcciones</a:t>
            </a:r>
            <a:endParaRPr>
              <a:solidFill>
                <a:schemeClr val="lt1"/>
              </a:solidFill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4"/>
          <p:cNvSpPr txBox="1"/>
          <p:nvPr/>
        </p:nvSpPr>
        <p:spPr>
          <a:xfrm>
            <a:off x="3897550" y="1756575"/>
            <a:ext cx="4505400" cy="30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55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Rajdhani"/>
              <a:buAutoNum type="arabicPeriod"/>
            </a:pPr>
            <a:r>
              <a:rPr lang="es" sz="2000" b="1" i="0" u="sng" strike="noStrike" cap="none">
                <a:solidFill>
                  <a:schemeClr val="hlink"/>
                </a:solidFill>
                <a:latin typeface="Rajdhani"/>
                <a:ea typeface="Rajdhani"/>
                <a:cs typeface="Rajdhani"/>
                <a:sym typeface="Rajdhani"/>
                <a:hlinkClick r:id="rId3" action="ppaction://hlinksldjump"/>
              </a:rPr>
              <a:t>Consigna</a:t>
            </a:r>
            <a:endParaRPr sz="2000" b="1" i="0" u="none" strike="noStrike" cap="none">
              <a:solidFill>
                <a:srgbClr val="434343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marL="457200" marR="0" lvl="0" indent="-355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Rajdhani"/>
              <a:buAutoNum type="arabicPeriod"/>
            </a:pPr>
            <a:r>
              <a:rPr lang="es" sz="2000" b="1" u="sng">
                <a:solidFill>
                  <a:schemeClr val="hlink"/>
                </a:solidFill>
                <a:latin typeface="Rajdhani"/>
                <a:ea typeface="Rajdhani"/>
                <a:cs typeface="Rajdhani"/>
                <a:sym typeface="Rajdhani"/>
              </a:rPr>
              <a:t>Compartimos la investigación</a:t>
            </a:r>
            <a:endParaRPr sz="2000" b="1" i="0" u="none" strike="noStrike" cap="none">
              <a:solidFill>
                <a:srgbClr val="434343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rgbClr val="434343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marL="45720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rgbClr val="434343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36" name="Google Shape;136;p44"/>
          <p:cNvSpPr txBox="1"/>
          <p:nvPr/>
        </p:nvSpPr>
        <p:spPr>
          <a:xfrm>
            <a:off x="1672950" y="2442819"/>
            <a:ext cx="1590300" cy="8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s" sz="3100" b="1" i="0" u="none" strike="noStrike" cap="none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Índice</a:t>
            </a:r>
            <a:endParaRPr sz="2700" b="1" i="0" u="none" strike="noStrike" cap="none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37" name="Google Shape;137;p44"/>
          <p:cNvCxnSpPr/>
          <p:nvPr/>
        </p:nvCxnSpPr>
        <p:spPr>
          <a:xfrm flipH="1">
            <a:off x="3592750" y="1409375"/>
            <a:ext cx="18900" cy="3033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83C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5"/>
          <p:cNvSpPr txBox="1"/>
          <p:nvPr/>
        </p:nvSpPr>
        <p:spPr>
          <a:xfrm>
            <a:off x="3609750" y="1495200"/>
            <a:ext cx="4808400" cy="23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s" sz="37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Consigna</a:t>
            </a:r>
            <a:endParaRPr sz="3700" b="1" i="0" u="none" strike="noStrike" cap="none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43" name="Google Shape;143;p45"/>
          <p:cNvSpPr txBox="1"/>
          <p:nvPr/>
        </p:nvSpPr>
        <p:spPr>
          <a:xfrm>
            <a:off x="2740403" y="2195563"/>
            <a:ext cx="548700" cy="9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" sz="6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1</a:t>
            </a:r>
            <a:endParaRPr sz="6000" b="1" i="0" u="none" strike="noStrike" cap="none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44" name="Google Shape;144;p45"/>
          <p:cNvSpPr/>
          <p:nvPr/>
        </p:nvSpPr>
        <p:spPr>
          <a:xfrm>
            <a:off x="3438450" y="2141125"/>
            <a:ext cx="18600" cy="1086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6"/>
          <p:cNvSpPr txBox="1"/>
          <p:nvPr/>
        </p:nvSpPr>
        <p:spPr>
          <a:xfrm>
            <a:off x="530400" y="1008475"/>
            <a:ext cx="8347500" cy="3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6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Vamos a investigar y conocer todas nuestras direcciones ! </a:t>
            </a:r>
            <a:r>
              <a:rPr lang="es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6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Para esto cada alumno y alumna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 mesa de trabajo deberá investigar 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qué direcciones ip y mac tiene.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Manos a la obra !</a:t>
            </a:r>
            <a:endParaRPr sz="1600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  <a:b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" name="Google Shape;150;p46"/>
          <p:cNvSpPr txBox="1"/>
          <p:nvPr/>
        </p:nvSpPr>
        <p:spPr>
          <a:xfrm>
            <a:off x="757775" y="380875"/>
            <a:ext cx="5451600" cy="6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595959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" sz="3000" b="1" i="0" u="none" strike="noStrike" cap="none">
                <a:solidFill>
                  <a:srgbClr val="595959"/>
                </a:solidFill>
                <a:latin typeface="Rajdhani"/>
                <a:ea typeface="Rajdhani"/>
                <a:cs typeface="Rajdhani"/>
                <a:sym typeface="Rajdhani"/>
              </a:rPr>
              <a:t>Consigna para </a:t>
            </a:r>
            <a:r>
              <a:rPr lang="es" sz="3000" b="1" i="0" u="none" strike="noStrike" cap="none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trabajo en clase</a:t>
            </a:r>
            <a:endParaRPr sz="3000" b="1" i="0" u="none" strike="noStrike" cap="none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pic>
        <p:nvPicPr>
          <p:cNvPr id="151" name="Google Shape;15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8326" y="2139775"/>
            <a:ext cx="3820150" cy="230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7"/>
          <p:cNvSpPr txBox="1"/>
          <p:nvPr/>
        </p:nvSpPr>
        <p:spPr>
          <a:xfrm>
            <a:off x="530400" y="1008475"/>
            <a:ext cx="8347500" cy="3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6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Vamos a investigar y conocer todas nuestras direcciones ! </a:t>
            </a:r>
            <a:r>
              <a:rPr lang="es" sz="1600" b="0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600" b="0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Apliquemos los conocimientos adquiridos, para conocer nuestras direcciones .</a:t>
            </a: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Que direcciones necesitamos averiguar :</a:t>
            </a: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914400" lvl="0" indent="-330200">
              <a:lnSpc>
                <a:spcPct val="115000"/>
              </a:lnSpc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s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Dirección IP </a:t>
            </a:r>
            <a:r>
              <a:rPr lang="es" sz="1600" dirty="0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Pública</a:t>
            </a:r>
            <a:r>
              <a:rPr lang="es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 201.179.36.91</a:t>
            </a:r>
          </a:p>
          <a:p>
            <a:pPr marL="914400" lvl="0" indent="-330200">
              <a:lnSpc>
                <a:spcPct val="115000"/>
              </a:lnSpc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s" sz="1600" dirty="0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Dirección </a:t>
            </a:r>
            <a:r>
              <a:rPr lang="es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IP Privada y su Máscara de </a:t>
            </a:r>
            <a:r>
              <a:rPr lang="es" sz="1600" dirty="0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subred </a:t>
            </a:r>
          </a:p>
          <a:p>
            <a:pPr marL="5842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s" sz="1600" dirty="0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IP Privada: 192.168.1.36 (Preferido)</a:t>
            </a:r>
          </a:p>
          <a:p>
            <a:pPr marL="5842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s" sz="1600" dirty="0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Máscara: </a:t>
            </a:r>
            <a:r>
              <a:rPr lang="es" sz="1600" dirty="0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255.255.255.0</a:t>
            </a: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s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Dirección </a:t>
            </a:r>
            <a:r>
              <a:rPr lang="es" sz="1600" dirty="0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MAC: C0-CB-38-5B-28-30</a:t>
            </a: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/>
            </a:r>
            <a:br>
              <a:rPr lang="es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" name="Google Shape;157;p47"/>
          <p:cNvSpPr txBox="1"/>
          <p:nvPr/>
        </p:nvSpPr>
        <p:spPr>
          <a:xfrm>
            <a:off x="757775" y="380875"/>
            <a:ext cx="5451600" cy="6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s" sz="3000" b="1">
                <a:solidFill>
                  <a:schemeClr val="dk2"/>
                </a:solidFill>
                <a:latin typeface="Rajdhani"/>
                <a:ea typeface="Rajdhani"/>
                <a:cs typeface="Rajdhani"/>
                <a:sym typeface="Rajdhani"/>
              </a:rPr>
              <a:t>Vamos  </a:t>
            </a:r>
            <a:r>
              <a:rPr lang="es" sz="3000" b="1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a investigar</a:t>
            </a:r>
            <a:endParaRPr sz="2400" b="1">
              <a:solidFill>
                <a:srgbClr val="595959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8"/>
          <p:cNvSpPr txBox="1"/>
          <p:nvPr/>
        </p:nvSpPr>
        <p:spPr>
          <a:xfrm>
            <a:off x="530400" y="1008475"/>
            <a:ext cx="8347500" cy="3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6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Sigamos trabajando ! </a:t>
            </a:r>
            <a:endParaRPr sz="1600" b="0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Dadas nuestras direcciones IP y las máscaras de red, </a:t>
            </a: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¿ La IP pública y privada de qué clase son </a:t>
            </a:r>
            <a:r>
              <a:rPr lang="es" sz="1600" dirty="0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? De acuerdo a los números, ambas son de clase C.</a:t>
            </a: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¿ Qué información puedo obtener de la dirección MAC? , vamos a acceder a  </a:t>
            </a:r>
            <a:r>
              <a:rPr lang="es" sz="1600" u="sng" dirty="0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https://macvendors.com/</a:t>
            </a:r>
            <a:r>
              <a:rPr lang="es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y verificar que marca de placa de red tenemos</a:t>
            </a:r>
            <a:r>
              <a:rPr lang="es" sz="1600" dirty="0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lvl="0">
              <a:lnSpc>
                <a:spcPct val="115000"/>
              </a:lnSpc>
            </a:pPr>
            <a:r>
              <a:rPr lang="en-US" sz="1600" dirty="0" err="1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Placa</a:t>
            </a:r>
            <a:r>
              <a:rPr lang="en-US" sz="1600" dirty="0" smtClean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de red: Hon </a:t>
            </a:r>
            <a:r>
              <a:rPr lang="en-US" sz="16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Hai Precision Ind. </a:t>
            </a:r>
            <a:r>
              <a:rPr lang="en-US" sz="1600" dirty="0" err="1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Co.,Ltd</a:t>
            </a:r>
            <a:r>
              <a:rPr lang="en-US" sz="1600" dirty="0"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.</a:t>
            </a:r>
            <a:endParaRPr sz="1600" dirty="0">
              <a:solidFill>
                <a:schemeClr val="dk1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" name="Google Shape;163;p48"/>
          <p:cNvSpPr txBox="1"/>
          <p:nvPr/>
        </p:nvSpPr>
        <p:spPr>
          <a:xfrm>
            <a:off x="757775" y="380875"/>
            <a:ext cx="5451600" cy="6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s" sz="3000" b="1">
                <a:solidFill>
                  <a:schemeClr val="dk2"/>
                </a:solidFill>
                <a:latin typeface="Rajdhani"/>
                <a:ea typeface="Rajdhani"/>
                <a:cs typeface="Rajdhani"/>
                <a:sym typeface="Rajdhani"/>
              </a:rPr>
              <a:t>Vamos  </a:t>
            </a:r>
            <a:r>
              <a:rPr lang="es" sz="3000" b="1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a investigar</a:t>
            </a:r>
            <a:endParaRPr sz="2400" b="1">
              <a:solidFill>
                <a:srgbClr val="595959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11700" y="571501"/>
            <a:ext cx="8312755" cy="2213264"/>
          </a:xfrm>
        </p:spPr>
        <p:txBody>
          <a:bodyPr/>
          <a:lstStyle/>
          <a:p>
            <a:r>
              <a:rPr lang="es-ES" sz="1600" dirty="0"/>
              <a:t>Cada dispositivo que se conecta a una red informática requiere un adaptador de red. Este adaptador recibe un número de identificación único del fabricante, la dirección MAC. Esto permite que dispositivos como ordenadores de sobremesa, </a:t>
            </a:r>
            <a:r>
              <a:rPr lang="es-ES" sz="1600" dirty="0" err="1"/>
              <a:t>tablets</a:t>
            </a:r>
            <a:r>
              <a:rPr lang="es-ES" sz="1600" dirty="0"/>
              <a:t> o teléfonos móviles puedan ser identificados en la red y direccionados según sea necesario. Si un dispositivo tiene varios adaptadores de red (por ejemplo, para múltiples conexiones LAN o diferentes estándares de comunicación como Ethernet, WLAN, FDDI, Bluetooth o </a:t>
            </a:r>
            <a:r>
              <a:rPr lang="es-ES" sz="1600" dirty="0" err="1"/>
              <a:t>Token</a:t>
            </a:r>
            <a:r>
              <a:rPr lang="es-ES" sz="1600" dirty="0"/>
              <a:t> Ring), se dispone de una dirección diferente para cada uno.</a:t>
            </a:r>
          </a:p>
        </p:txBody>
      </p:sp>
    </p:spTree>
    <p:extLst>
      <p:ext uri="{BB962C8B-B14F-4D97-AF65-F5344CB8AC3E}">
        <p14:creationId xmlns:p14="http://schemas.microsoft.com/office/powerpoint/2010/main" val="1881086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83C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9"/>
          <p:cNvSpPr txBox="1"/>
          <p:nvPr/>
        </p:nvSpPr>
        <p:spPr>
          <a:xfrm>
            <a:off x="3609750" y="1495200"/>
            <a:ext cx="4808400" cy="23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s" sz="3700" b="1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Compartimos la investigación</a:t>
            </a:r>
            <a:endParaRPr sz="3700" b="1" i="0" u="none" strike="noStrike" cap="none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69" name="Google Shape;169;p49"/>
          <p:cNvSpPr txBox="1"/>
          <p:nvPr/>
        </p:nvSpPr>
        <p:spPr>
          <a:xfrm>
            <a:off x="2740403" y="2195563"/>
            <a:ext cx="548700" cy="9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" sz="6000" b="1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2</a:t>
            </a:r>
            <a:endParaRPr sz="6000" b="1" i="0" u="none" strike="noStrike" cap="none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70" name="Google Shape;170;p49"/>
          <p:cNvSpPr/>
          <p:nvPr/>
        </p:nvSpPr>
        <p:spPr>
          <a:xfrm>
            <a:off x="3438450" y="2141125"/>
            <a:ext cx="18600" cy="1086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0"/>
          <p:cNvSpPr txBox="1"/>
          <p:nvPr/>
        </p:nvSpPr>
        <p:spPr>
          <a:xfrm>
            <a:off x="559025" y="1296150"/>
            <a:ext cx="8347500" cy="3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Una vez que hemos terminado la investigación, compartimos los resultados en la mesa de trabajo y  comparamos los valores obtenidos.  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¡ Recuerden subir la investigación a la mochila ! 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6" name="Google Shape;176;p50"/>
          <p:cNvSpPr txBox="1"/>
          <p:nvPr/>
        </p:nvSpPr>
        <p:spPr>
          <a:xfrm>
            <a:off x="757775" y="380875"/>
            <a:ext cx="5451600" cy="6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595959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" sz="3000" b="1">
                <a:solidFill>
                  <a:srgbClr val="595959"/>
                </a:solidFill>
                <a:latin typeface="Rajdhani"/>
                <a:ea typeface="Rajdhani"/>
                <a:cs typeface="Rajdhani"/>
                <a:sym typeface="Rajdhani"/>
              </a:rPr>
              <a:t>Compartimos </a:t>
            </a:r>
            <a:r>
              <a:rPr lang="es" sz="3000" b="1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la investigación</a:t>
            </a:r>
            <a:endParaRPr sz="3000" b="1" i="0" u="none" strike="noStrike" cap="none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pic>
        <p:nvPicPr>
          <p:cNvPr id="177" name="Google Shape;17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5750" y="2206250"/>
            <a:ext cx="3623775" cy="241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83C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319</Words>
  <Application>Microsoft Office PowerPoint</Application>
  <PresentationFormat>Presentación en pantalla (16:9)</PresentationFormat>
  <Paragraphs>57</Paragraphs>
  <Slides>10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Open Sans</vt:lpstr>
      <vt:lpstr>Rajdhani</vt:lpstr>
      <vt:lpstr>Simple Light</vt:lpstr>
      <vt:lpstr>Simple Light</vt:lpstr>
      <vt:lpstr>Simple Light</vt:lpstr>
      <vt:lpstr>Conociendo mis direcciones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Conociendo mis direcciones</dc:title>
  <dc:creator>Dell</dc:creator>
  <cp:lastModifiedBy>Dell</cp:lastModifiedBy>
  <cp:revision>2</cp:revision>
  <dcterms:modified xsi:type="dcterms:W3CDTF">2021-11-25T03:01:59Z</dcterms:modified>
</cp:coreProperties>
</file>