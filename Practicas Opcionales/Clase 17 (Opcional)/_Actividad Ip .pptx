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4"/>
    <p:sldMasterId id="2147483688" r:id="rId5"/>
    <p:sldMasterId id="214748368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y="5143500" cx="9144000"/>
  <p:notesSz cx="6858000" cy="9144000"/>
  <p:embeddedFontLst>
    <p:embeddedFont>
      <p:font typeface="Rajdhani"/>
      <p:regular r:id="rId17"/>
      <p:bold r:id="rId18"/>
    </p:embeddedFont>
    <p:embeddedFont>
      <p:font typeface="Open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.fntdata"/><Relationship Id="rId11" Type="http://schemas.openxmlformats.org/officeDocument/2006/relationships/slide" Target="slides/slide4.xml"/><Relationship Id="rId22" Type="http://schemas.openxmlformats.org/officeDocument/2006/relationships/font" Target="fonts/OpenSans-boldItalic.fntdata"/><Relationship Id="rId10" Type="http://schemas.openxmlformats.org/officeDocument/2006/relationships/slide" Target="slides/slide3.xml"/><Relationship Id="rId21" Type="http://schemas.openxmlformats.org/officeDocument/2006/relationships/font" Target="fonts/OpenSans-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font" Target="fonts/Rajdhani-regular.fntdata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2.xml"/><Relationship Id="rId19" Type="http://schemas.openxmlformats.org/officeDocument/2006/relationships/font" Target="fonts/OpenSans-regular.fntdata"/><Relationship Id="rId6" Type="http://schemas.openxmlformats.org/officeDocument/2006/relationships/slideMaster" Target="slideMasters/slideMaster3.xml"/><Relationship Id="rId18" Type="http://schemas.openxmlformats.org/officeDocument/2006/relationships/font" Target="fonts/Rajdhani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c48bfaac81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c48bfaac81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c48bfaac81_0_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c48bfaac81_0_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c316d6937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c316d6937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7b40fda7b3_4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7b40fda7b3_4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e182e789c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e182e789c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e182e789c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e182e789c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e41d579b3d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e41d579b3d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d951d8317c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d951d8317c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c48bfaac81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c48bfaac81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 txBox="1"/>
          <p:nvPr>
            <p:ph type="title"/>
          </p:nvPr>
        </p:nvSpPr>
        <p:spPr>
          <a:xfrm>
            <a:off x="3519224" y="988675"/>
            <a:ext cx="5237700" cy="28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/>
        </p:txBody>
      </p:sp>
      <p:pic>
        <p:nvPicPr>
          <p:cNvPr id="8" name="Google Shape;8;p2"/>
          <p:cNvPicPr preferRelativeResize="0"/>
          <p:nvPr/>
        </p:nvPicPr>
        <p:blipFill rotWithShape="1">
          <a:blip r:embed="rId3">
            <a:alphaModFix/>
          </a:blip>
          <a:srcRect b="0" l="5658" r="5649" t="0"/>
          <a:stretch/>
        </p:blipFill>
        <p:spPr>
          <a:xfrm>
            <a:off x="5888950" y="3624550"/>
            <a:ext cx="2675822" cy="111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/>
          <p:nvPr/>
        </p:nvSpPr>
        <p:spPr>
          <a:xfrm>
            <a:off x="4572000" y="-125"/>
            <a:ext cx="4572000" cy="468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t>xx%</a:t>
            </a:r>
          </a:p>
        </p:txBody>
      </p:sp>
      <p:sp>
        <p:nvSpPr>
          <p:cNvPr id="37" name="Google Shape;3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 1">
  <p:cSld name="CUSTOM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4"/>
          <p:cNvSpPr/>
          <p:nvPr/>
        </p:nvSpPr>
        <p:spPr>
          <a:xfrm>
            <a:off x="-148900" y="-94750"/>
            <a:ext cx="9488400" cy="5360100"/>
          </a:xfrm>
          <a:prstGeom prst="rect">
            <a:avLst/>
          </a:prstGeom>
          <a:solidFill>
            <a:srgbClr val="33383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" name="Google Shape;41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41700" y="2367187"/>
            <a:ext cx="2355801" cy="56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3"/>
          <p:cNvSpPr/>
          <p:nvPr/>
        </p:nvSpPr>
        <p:spPr>
          <a:xfrm>
            <a:off x="4572000" y="-125"/>
            <a:ext cx="4572000" cy="468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t>xx%</a:t>
            </a:r>
          </a:p>
        </p:txBody>
      </p:sp>
      <p:sp>
        <p:nvSpPr>
          <p:cNvPr id="74" name="Google Shape;74;p2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 1">
  <p:cSld name="CUSTOM_1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7"/>
          <p:cNvSpPr/>
          <p:nvPr/>
        </p:nvSpPr>
        <p:spPr>
          <a:xfrm>
            <a:off x="-148900" y="-94750"/>
            <a:ext cx="9488400" cy="5360100"/>
          </a:xfrm>
          <a:prstGeom prst="rect">
            <a:avLst/>
          </a:prstGeom>
          <a:solidFill>
            <a:srgbClr val="33383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41700" y="2367187"/>
            <a:ext cx="2355801" cy="56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8"/>
          <p:cNvSpPr txBox="1"/>
          <p:nvPr>
            <p:ph type="title"/>
          </p:nvPr>
        </p:nvSpPr>
        <p:spPr>
          <a:xfrm>
            <a:off x="3519224" y="988675"/>
            <a:ext cx="5237700" cy="28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/>
        </p:txBody>
      </p:sp>
      <p:pic>
        <p:nvPicPr>
          <p:cNvPr id="81" name="Google Shape;8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65149" y="3700742"/>
            <a:ext cx="2416852" cy="100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 1">
  <p:cSld name="CUSTOM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0"/>
          <p:cNvSpPr/>
          <p:nvPr/>
        </p:nvSpPr>
        <p:spPr>
          <a:xfrm>
            <a:off x="-148900" y="-94750"/>
            <a:ext cx="9488400" cy="5360100"/>
          </a:xfrm>
          <a:prstGeom prst="rect">
            <a:avLst/>
          </a:prstGeom>
          <a:solidFill>
            <a:srgbClr val="33383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41700" y="2367187"/>
            <a:ext cx="2355801" cy="56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" name="Google Shape;95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0" name="Google Shape;100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3" name="Google Shape;103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Google Shape;104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9" name="Google Shape;109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8"/>
          <p:cNvSpPr/>
          <p:nvPr/>
        </p:nvSpPr>
        <p:spPr>
          <a:xfrm>
            <a:off x="4572000" y="-125"/>
            <a:ext cx="4572000" cy="468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5" name="Google Shape;115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6" name="Google Shape;116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t>xx%</a:t>
            </a:r>
          </a:p>
        </p:txBody>
      </p:sp>
      <p:sp>
        <p:nvSpPr>
          <p:cNvPr id="121" name="Google Shape;121;p4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2"/>
          <p:cNvSpPr txBox="1"/>
          <p:nvPr>
            <p:ph type="title"/>
          </p:nvPr>
        </p:nvSpPr>
        <p:spPr>
          <a:xfrm>
            <a:off x="3519224" y="988675"/>
            <a:ext cx="5237700" cy="28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/>
        </p:txBody>
      </p:sp>
      <p:pic>
        <p:nvPicPr>
          <p:cNvPr id="125" name="Google Shape;125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65149" y="3700742"/>
            <a:ext cx="2416852" cy="100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37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5"/>
          <p:cNvSpPr/>
          <p:nvPr/>
        </p:nvSpPr>
        <p:spPr>
          <a:xfrm>
            <a:off x="-15600" y="4856100"/>
            <a:ext cx="9175200" cy="332100"/>
          </a:xfrm>
          <a:prstGeom prst="rect">
            <a:avLst/>
          </a:prstGeom>
          <a:solidFill>
            <a:srgbClr val="EC18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5"/>
          <p:cNvSpPr txBox="1"/>
          <p:nvPr/>
        </p:nvSpPr>
        <p:spPr>
          <a:xfrm>
            <a:off x="111657" y="4953600"/>
            <a:ext cx="21879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Actividad </a:t>
            </a:r>
            <a:r>
              <a:rPr lang="es"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integradora</a:t>
            </a:r>
            <a:endParaRPr b="0" i="0" sz="9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5" name="Google Shape;45;p1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074225" y="4931037"/>
            <a:ext cx="764551" cy="18222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" name="Google Shape;83;p29"/>
          <p:cNvCxnSpPr/>
          <p:nvPr/>
        </p:nvCxnSpPr>
        <p:spPr>
          <a:xfrm>
            <a:off x="719925" y="-8000"/>
            <a:ext cx="8100" cy="4879500"/>
          </a:xfrm>
          <a:prstGeom prst="straightConnector1">
            <a:avLst/>
          </a:prstGeom>
          <a:noFill/>
          <a:ln cap="flat" cmpd="sng" w="9525">
            <a:solidFill>
              <a:srgbClr val="FCD8D6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84" name="Google Shape;84;p29"/>
          <p:cNvCxnSpPr/>
          <p:nvPr/>
        </p:nvCxnSpPr>
        <p:spPr>
          <a:xfrm>
            <a:off x="8419950" y="-8000"/>
            <a:ext cx="8100" cy="4879500"/>
          </a:xfrm>
          <a:prstGeom prst="straightConnector1">
            <a:avLst/>
          </a:prstGeom>
          <a:noFill/>
          <a:ln cap="flat" cmpd="sng" w="9525">
            <a:solidFill>
              <a:srgbClr val="FCD8D6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85" name="Google Shape;85;p29"/>
          <p:cNvCxnSpPr/>
          <p:nvPr/>
        </p:nvCxnSpPr>
        <p:spPr>
          <a:xfrm flipH="1" rot="10800000">
            <a:off x="-8000" y="1178475"/>
            <a:ext cx="9175200" cy="5400"/>
          </a:xfrm>
          <a:prstGeom prst="straightConnector1">
            <a:avLst/>
          </a:prstGeom>
          <a:noFill/>
          <a:ln cap="flat" cmpd="sng" w="9525">
            <a:solidFill>
              <a:srgbClr val="FCD8D6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86" name="Google Shape;86;p29"/>
          <p:cNvCxnSpPr/>
          <p:nvPr/>
        </p:nvCxnSpPr>
        <p:spPr>
          <a:xfrm flipH="1" rot="10800000">
            <a:off x="-15600" y="4860825"/>
            <a:ext cx="9175200" cy="5400"/>
          </a:xfrm>
          <a:prstGeom prst="straightConnector1">
            <a:avLst/>
          </a:prstGeom>
          <a:noFill/>
          <a:ln cap="flat" cmpd="sng" w="9525">
            <a:solidFill>
              <a:srgbClr val="FCD8D6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87" name="Google Shape;87;p29"/>
          <p:cNvSpPr/>
          <p:nvPr/>
        </p:nvSpPr>
        <p:spPr>
          <a:xfrm>
            <a:off x="-15600" y="4856100"/>
            <a:ext cx="9175200" cy="332100"/>
          </a:xfrm>
          <a:prstGeom prst="rect">
            <a:avLst/>
          </a:prstGeom>
          <a:solidFill>
            <a:srgbClr val="EC18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9"/>
          <p:cNvSpPr txBox="1"/>
          <p:nvPr/>
        </p:nvSpPr>
        <p:spPr>
          <a:xfrm>
            <a:off x="111657" y="4953600"/>
            <a:ext cx="21879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Título del ppt</a:t>
            </a:r>
            <a:endParaRPr b="0" i="0" sz="9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9" name="Google Shape;89;p2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074225" y="4931037"/>
            <a:ext cx="764551" cy="18222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3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macvendors.com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3"/>
          <p:cNvSpPr txBox="1"/>
          <p:nvPr>
            <p:ph type="title"/>
          </p:nvPr>
        </p:nvSpPr>
        <p:spPr>
          <a:xfrm>
            <a:off x="4289805" y="1256945"/>
            <a:ext cx="4058100" cy="28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0000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</a:pPr>
            <a:r>
              <a:rPr lang="es">
                <a:solidFill>
                  <a:schemeClr val="lt1"/>
                </a:solidFill>
              </a:rPr>
              <a:t>Conociendo</a:t>
            </a:r>
            <a:br>
              <a:rPr lang="es">
                <a:solidFill>
                  <a:schemeClr val="lt1"/>
                </a:solidFill>
              </a:rPr>
            </a:br>
            <a:r>
              <a:rPr lang="es">
                <a:solidFill>
                  <a:schemeClr val="lt1"/>
                </a:solidFill>
              </a:rPr>
              <a:t>mis direcciones</a:t>
            </a:r>
            <a:endParaRPr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4"/>
          <p:cNvSpPr txBox="1"/>
          <p:nvPr/>
        </p:nvSpPr>
        <p:spPr>
          <a:xfrm>
            <a:off x="3897550" y="1756575"/>
            <a:ext cx="4505400" cy="306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556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Rajdhani"/>
              <a:buAutoNum type="arabicPeriod"/>
            </a:pPr>
            <a:r>
              <a:rPr b="1" i="0" lang="es" sz="2000" u="sng" cap="none" strike="noStrike">
                <a:solidFill>
                  <a:schemeClr val="hlink"/>
                </a:solidFill>
                <a:latin typeface="Rajdhani"/>
                <a:ea typeface="Rajdhani"/>
                <a:cs typeface="Rajdhani"/>
                <a:sym typeface="Rajdhani"/>
                <a:hlinkClick action="ppaction://hlinksldjump" r:id="rId3"/>
              </a:rPr>
              <a:t>Consigna</a:t>
            </a:r>
            <a:endParaRPr b="1" i="0" sz="2000" u="none" cap="none" strike="noStrike">
              <a:solidFill>
                <a:srgbClr val="434343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indent="-3556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Rajdhani"/>
              <a:buAutoNum type="arabicPeriod"/>
            </a:pPr>
            <a:r>
              <a:rPr b="1" lang="es" sz="2000" u="sng">
                <a:solidFill>
                  <a:schemeClr val="hlink"/>
                </a:solidFill>
                <a:latin typeface="Rajdhani"/>
                <a:ea typeface="Rajdhani"/>
                <a:cs typeface="Rajdhani"/>
                <a:sym typeface="Rajdhani"/>
              </a:rPr>
              <a:t>Compartimos la investigación</a:t>
            </a:r>
            <a:endParaRPr b="1" i="0" sz="2000" u="none" cap="none" strike="noStrike">
              <a:solidFill>
                <a:srgbClr val="434343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434343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indent="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434343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36" name="Google Shape;136;p44"/>
          <p:cNvSpPr txBox="1"/>
          <p:nvPr/>
        </p:nvSpPr>
        <p:spPr>
          <a:xfrm>
            <a:off x="1672950" y="2442819"/>
            <a:ext cx="1590300" cy="8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s" sz="3100" u="none" cap="none" strike="noStrike">
                <a:solidFill>
                  <a:srgbClr val="EC183F"/>
                </a:solidFill>
                <a:latin typeface="Rajdhani"/>
                <a:ea typeface="Rajdhani"/>
                <a:cs typeface="Rajdhani"/>
                <a:sym typeface="Rajdhani"/>
              </a:rPr>
              <a:t>Índice</a:t>
            </a:r>
            <a:endParaRPr b="1" i="0" sz="2700" u="none" cap="none" strike="noStrike">
              <a:solidFill>
                <a:srgbClr val="EC183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37" name="Google Shape;137;p44"/>
          <p:cNvCxnSpPr/>
          <p:nvPr/>
        </p:nvCxnSpPr>
        <p:spPr>
          <a:xfrm flipH="1">
            <a:off x="3592750" y="1409375"/>
            <a:ext cx="18900" cy="3033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83C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5"/>
          <p:cNvSpPr txBox="1"/>
          <p:nvPr/>
        </p:nvSpPr>
        <p:spPr>
          <a:xfrm>
            <a:off x="3609750" y="1495200"/>
            <a:ext cx="48084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i="0" lang="es" sz="37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Consigna</a:t>
            </a:r>
            <a:endParaRPr b="1" i="0" sz="3700" u="none" cap="none" strike="noStrike">
              <a:solidFill>
                <a:srgbClr val="FFFFF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43" name="Google Shape;143;p45"/>
          <p:cNvSpPr txBox="1"/>
          <p:nvPr/>
        </p:nvSpPr>
        <p:spPr>
          <a:xfrm>
            <a:off x="2740403" y="2195563"/>
            <a:ext cx="548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" sz="6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1</a:t>
            </a:r>
            <a:endParaRPr b="1" i="0" sz="6000" u="none" cap="none" strike="noStrike">
              <a:solidFill>
                <a:srgbClr val="FFFFF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44" name="Google Shape;144;p45"/>
          <p:cNvSpPr/>
          <p:nvPr/>
        </p:nvSpPr>
        <p:spPr>
          <a:xfrm>
            <a:off x="3438450" y="2141125"/>
            <a:ext cx="18600" cy="108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6"/>
          <p:cNvSpPr txBox="1"/>
          <p:nvPr/>
        </p:nvSpPr>
        <p:spPr>
          <a:xfrm>
            <a:off x="530400" y="1008475"/>
            <a:ext cx="8347500" cy="36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Vamos a investigar y conocer todas nuestras direcciones ! </a:t>
            </a:r>
            <a:r>
              <a:rPr b="0" i="0" lang="es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b="0" i="0" sz="16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Para esto cada alumno y alumna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 mesa de trabajo deberá investigar 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qué</a:t>
            </a:r>
            <a:r>
              <a:rPr lang="e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direcciones ip y mac tiene.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Manos a la obra !</a:t>
            </a:r>
            <a:endParaRPr b="1"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0" name="Google Shape;150;p46"/>
          <p:cNvSpPr txBox="1"/>
          <p:nvPr/>
        </p:nvSpPr>
        <p:spPr>
          <a:xfrm>
            <a:off x="757775" y="380875"/>
            <a:ext cx="5451600" cy="62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595959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s" sz="3000" u="none" cap="none" strike="noStrike">
                <a:solidFill>
                  <a:srgbClr val="595959"/>
                </a:solidFill>
                <a:latin typeface="Rajdhani"/>
                <a:ea typeface="Rajdhani"/>
                <a:cs typeface="Rajdhani"/>
                <a:sym typeface="Rajdhani"/>
              </a:rPr>
              <a:t>Consigna para </a:t>
            </a:r>
            <a:r>
              <a:rPr b="1" i="0" lang="es" sz="3000" u="none" cap="none" strike="noStrike">
                <a:solidFill>
                  <a:srgbClr val="EC183F"/>
                </a:solidFill>
                <a:latin typeface="Rajdhani"/>
                <a:ea typeface="Rajdhani"/>
                <a:cs typeface="Rajdhani"/>
                <a:sym typeface="Rajdhani"/>
              </a:rPr>
              <a:t>trabajo en clase</a:t>
            </a:r>
            <a:endParaRPr b="1" i="0" sz="3000" u="none" cap="none" strike="noStrike">
              <a:solidFill>
                <a:srgbClr val="EC183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pic>
        <p:nvPicPr>
          <p:cNvPr id="151" name="Google Shape;15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8326" y="2139775"/>
            <a:ext cx="3820150" cy="230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7"/>
          <p:cNvSpPr txBox="1"/>
          <p:nvPr/>
        </p:nvSpPr>
        <p:spPr>
          <a:xfrm>
            <a:off x="530400" y="1008475"/>
            <a:ext cx="8347500" cy="36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Vamos a investigar y conocer todas nuestras direcciones ! </a:t>
            </a:r>
            <a:r>
              <a:rPr b="0" i="0" lang="es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b="0" i="0" sz="16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Apliquemos los conocimientos adquiridos, para conocer nuestras direcciones .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Que direcciones necesitamos averiguar :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e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Dirección IP Pública 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e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Dirección IP Privada y su Máscara de subred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e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Dirección MAC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7" name="Google Shape;157;p47"/>
          <p:cNvSpPr txBox="1"/>
          <p:nvPr/>
        </p:nvSpPr>
        <p:spPr>
          <a:xfrm>
            <a:off x="757775" y="380875"/>
            <a:ext cx="5451600" cy="62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es" sz="3000">
                <a:solidFill>
                  <a:schemeClr val="dk2"/>
                </a:solidFill>
                <a:latin typeface="Rajdhani"/>
                <a:ea typeface="Rajdhani"/>
                <a:cs typeface="Rajdhani"/>
                <a:sym typeface="Rajdhani"/>
              </a:rPr>
              <a:t>Vamos </a:t>
            </a:r>
            <a:r>
              <a:rPr b="1" lang="es" sz="3000">
                <a:solidFill>
                  <a:schemeClr val="dk2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b="1" lang="es" sz="3000">
                <a:solidFill>
                  <a:srgbClr val="EC183F"/>
                </a:solidFill>
                <a:latin typeface="Rajdhani"/>
                <a:ea typeface="Rajdhani"/>
                <a:cs typeface="Rajdhani"/>
                <a:sym typeface="Rajdhani"/>
              </a:rPr>
              <a:t>a investigar</a:t>
            </a:r>
            <a:endParaRPr b="1" sz="2400">
              <a:solidFill>
                <a:srgbClr val="595959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8"/>
          <p:cNvSpPr txBox="1"/>
          <p:nvPr/>
        </p:nvSpPr>
        <p:spPr>
          <a:xfrm>
            <a:off x="530400" y="1008475"/>
            <a:ext cx="8347500" cy="36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Sigamos trabajando ! </a:t>
            </a:r>
            <a:endParaRPr b="0" i="0" sz="16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Dadas nuestras direcciones IP y las máscaras de red, 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¿ La IP pública y privada de qué clase son ? 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¿ Qué información puedo obtener de la dirección MAC? , vamos a acceder a  </a:t>
            </a:r>
            <a:r>
              <a:rPr lang="es" sz="16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3"/>
              </a:rPr>
              <a:t>https://macvendors.com/</a:t>
            </a:r>
            <a:r>
              <a:rPr lang="e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y verificar que marca de placa de red tenemos.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3" name="Google Shape;163;p48"/>
          <p:cNvSpPr txBox="1"/>
          <p:nvPr/>
        </p:nvSpPr>
        <p:spPr>
          <a:xfrm>
            <a:off x="757775" y="380875"/>
            <a:ext cx="5451600" cy="62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es" sz="3000">
                <a:solidFill>
                  <a:schemeClr val="dk2"/>
                </a:solidFill>
                <a:latin typeface="Rajdhani"/>
                <a:ea typeface="Rajdhani"/>
                <a:cs typeface="Rajdhani"/>
                <a:sym typeface="Rajdhani"/>
              </a:rPr>
              <a:t>Vamos  </a:t>
            </a:r>
            <a:r>
              <a:rPr b="1" lang="es" sz="3000">
                <a:solidFill>
                  <a:srgbClr val="EC183F"/>
                </a:solidFill>
                <a:latin typeface="Rajdhani"/>
                <a:ea typeface="Rajdhani"/>
                <a:cs typeface="Rajdhani"/>
                <a:sym typeface="Rajdhani"/>
              </a:rPr>
              <a:t>a investigar</a:t>
            </a:r>
            <a:endParaRPr b="1" sz="2400">
              <a:solidFill>
                <a:srgbClr val="595959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83C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9"/>
          <p:cNvSpPr txBox="1"/>
          <p:nvPr/>
        </p:nvSpPr>
        <p:spPr>
          <a:xfrm>
            <a:off x="3609750" y="1495200"/>
            <a:ext cx="48084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lang="es" sz="3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Compartimos la investigación</a:t>
            </a:r>
            <a:endParaRPr b="1" i="0" sz="3700" u="none" cap="none" strike="noStrike">
              <a:solidFill>
                <a:srgbClr val="FFFFF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69" name="Google Shape;169;p49"/>
          <p:cNvSpPr txBox="1"/>
          <p:nvPr/>
        </p:nvSpPr>
        <p:spPr>
          <a:xfrm>
            <a:off x="2740403" y="2195563"/>
            <a:ext cx="548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s" sz="60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2</a:t>
            </a:r>
            <a:endParaRPr b="1" i="0" sz="6000" u="none" cap="none" strike="noStrike">
              <a:solidFill>
                <a:srgbClr val="FFFFF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70" name="Google Shape;170;p49"/>
          <p:cNvSpPr/>
          <p:nvPr/>
        </p:nvSpPr>
        <p:spPr>
          <a:xfrm>
            <a:off x="3438450" y="2141125"/>
            <a:ext cx="18600" cy="108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0"/>
          <p:cNvSpPr txBox="1"/>
          <p:nvPr/>
        </p:nvSpPr>
        <p:spPr>
          <a:xfrm>
            <a:off x="559025" y="1296150"/>
            <a:ext cx="8347500" cy="3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Una vez que hemos terminado la investigación, </a:t>
            </a:r>
            <a:r>
              <a:rPr lang="e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compartimos</a:t>
            </a:r>
            <a:r>
              <a:rPr lang="e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los resultados en la mesa de trabajo y  comparamos los valores obtenidos.  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¡ Recuerden subir la investigación a la mochila ! 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6" name="Google Shape;176;p50"/>
          <p:cNvSpPr txBox="1"/>
          <p:nvPr/>
        </p:nvSpPr>
        <p:spPr>
          <a:xfrm>
            <a:off x="757775" y="380875"/>
            <a:ext cx="5451600" cy="62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595959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s" sz="3000">
                <a:solidFill>
                  <a:srgbClr val="595959"/>
                </a:solidFill>
                <a:latin typeface="Rajdhani"/>
                <a:ea typeface="Rajdhani"/>
                <a:cs typeface="Rajdhani"/>
                <a:sym typeface="Rajdhani"/>
              </a:rPr>
              <a:t>Compartimos </a:t>
            </a:r>
            <a:r>
              <a:rPr b="1" lang="es" sz="3000">
                <a:solidFill>
                  <a:srgbClr val="EC183F"/>
                </a:solidFill>
                <a:latin typeface="Rajdhani"/>
                <a:ea typeface="Rajdhani"/>
                <a:cs typeface="Rajdhani"/>
                <a:sym typeface="Rajdhani"/>
              </a:rPr>
              <a:t>la investigación</a:t>
            </a:r>
            <a:endParaRPr b="1" i="0" sz="3000" u="none" cap="none" strike="noStrike">
              <a:solidFill>
                <a:srgbClr val="EC183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pic>
        <p:nvPicPr>
          <p:cNvPr id="177" name="Google Shape;17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5750" y="2206250"/>
            <a:ext cx="3623775" cy="241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83C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