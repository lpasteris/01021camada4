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Rajdhani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368D59-321F-4CD7-AFA2-FE1E03D43410}">
  <a:tblStyle styleId="{22368D59-321F-4CD7-AFA2-FE1E03D434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ajdhani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OpenSans-regular.fntdata"/><Relationship Id="rId10" Type="http://schemas.openxmlformats.org/officeDocument/2006/relationships/slide" Target="slides/slide3.xml"/><Relationship Id="rId32" Type="http://schemas.openxmlformats.org/officeDocument/2006/relationships/font" Target="fonts/Rajdhani-bold.fntdata"/><Relationship Id="rId13" Type="http://schemas.openxmlformats.org/officeDocument/2006/relationships/slide" Target="slides/slide6.xml"/><Relationship Id="rId35" Type="http://schemas.openxmlformats.org/officeDocument/2006/relationships/font" Target="fonts/OpenSans-italic.fntdata"/><Relationship Id="rId12" Type="http://schemas.openxmlformats.org/officeDocument/2006/relationships/slide" Target="slides/slide5.xml"/><Relationship Id="rId34" Type="http://schemas.openxmlformats.org/officeDocument/2006/relationships/font" Target="fonts/OpenSans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009b52c55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009b52c55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1fdcf20d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1fdcf20d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1fdcf20d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1fdcf20d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b1fdcf20d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b1fdcf20d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1fdcf20d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1fdcf20d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b1fdcf20d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b1fdcf20d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1fdcf20d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1fdcf20d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1fdcf20d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1fdcf20d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1fdcf20d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b1fdcf20d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eb3107e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eb3107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eb3107ed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eb3107e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eb3107ed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eb3107ed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eb3107ed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deb3107ed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deb3107ed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deb3107e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eb3107ed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eb3107ed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eb3107ed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eb3107ed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eb3107ed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eb3107ed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deb3107ed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deb3107ed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deb3107ed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deb3107ed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deb3107ed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deb3107ed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b1fdcf20d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b1fdcf20d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b1fdcf20d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b1fdcf20d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c65a5591a5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c65a5591a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45" name="Google Shape;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9" name="Google Shape;4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69" name="Google Shape;6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2" name="Google Shape;82;p28"/>
          <p:cNvPicPr preferRelativeResize="0"/>
          <p:nvPr/>
        </p:nvPicPr>
        <p:blipFill rotWithShape="1">
          <a:blip r:embed="rId3">
            <a:alphaModFix/>
          </a:blip>
          <a:srcRect b="0" l="5658" r="5649" t="0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flipH="1" rot="10800000">
            <a:off x="-15600" y="486082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" name="Google Shape;7;p1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Armado de computadoras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5.xml"/><Relationship Id="rId4" Type="http://schemas.openxmlformats.org/officeDocument/2006/relationships/slide" Target="/ppt/slides/slide8.xml"/><Relationship Id="rId5" Type="http://schemas.openxmlformats.org/officeDocument/2006/relationships/slide" Target="/ppt/slides/slide8.xml"/><Relationship Id="rId6" Type="http://schemas.openxmlformats.org/officeDocument/2006/relationships/slide" Target="/ppt/slides/slide2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cyberpuerta.mx/Computo-Hardware/Componentes/Procesadores/Procesadores-para-PC/Procesador-AMD-Ryzen-5-2600-S-AM4-3-40GHz-Six-Core-16MB-L3-Cache-con-Disipador-Wraith-Stealth.html" TargetMode="External"/><Relationship Id="rId4" Type="http://schemas.openxmlformats.org/officeDocument/2006/relationships/hyperlink" Target="https://www.cyberpuerta.mx/Computo-Hardware/Discos-Duros-SSD-NAS/SSD/SSD-ADATA-Ultimate-SU630-480GB-SATA-2-5-7mm.html" TargetMode="External"/><Relationship Id="rId5" Type="http://schemas.openxmlformats.org/officeDocument/2006/relationships/hyperlink" Target="https://www.cyberpuerta.mx/Computo-Hardware/Componentes/Tarjetas-de-Video/Tarjeta-de-Video-ASUS-ROG-Strix-NVIDIA-GeForce-RTX-3080-Ti-OC-Gaming-12GB-384-bit-GDDR6X-PCI-Express-4-0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amzn.to/2eGyoh8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cyberpuerta.mx/Computo-Hardware/Memorias-RAM-Flash/Memorias-RAM-para-PC/Memoria-RAM-XPG-Spectrix-D50-DDR4-3200MHz-8GB-Non-ECC-XMP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/>
        </p:nvSpPr>
        <p:spPr>
          <a:xfrm>
            <a:off x="4037275" y="986400"/>
            <a:ext cx="4525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90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Armado</a:t>
            </a:r>
            <a:r>
              <a:rPr b="1" lang="es" sz="490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 de  computadoras</a:t>
            </a:r>
            <a:endParaRPr b="1" sz="490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6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/>
          <p:nvPr/>
        </p:nvSpPr>
        <p:spPr>
          <a:xfrm>
            <a:off x="3897550" y="1527975"/>
            <a:ext cx="48564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action="ppaction://hlinkshowjump?jump=nextslide"/>
              </a:rPr>
              <a:t>Consigna</a:t>
            </a:r>
            <a:endParaRPr b="1"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action="ppaction://hlinksldjump" r:id="rId3"/>
              </a:rPr>
              <a:t>Detalles</a:t>
            </a:r>
            <a:endParaRPr b="1"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action="ppaction://hlinksldjump" r:id="rId4"/>
              </a:rPr>
              <a:t>Especificaciones</a:t>
            </a:r>
            <a:r>
              <a:rPr b="1" lang="es" sz="2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action="ppaction://hlinksldjump" r:id="rId5"/>
              </a:rPr>
              <a:t> de equipos</a:t>
            </a:r>
            <a:endParaRPr b="1"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action="ppaction://hlinksldjump" r:id="rId6"/>
              </a:rPr>
              <a:t>Entrega</a:t>
            </a:r>
            <a:endParaRPr b="1"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93" name="Google Shape;93;p30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b="1" sz="27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94" name="Google Shape;94;p30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/>
        </p:nvSpPr>
        <p:spPr>
          <a:xfrm>
            <a:off x="3609750" y="1495200"/>
            <a:ext cx="3332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 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00" name="Google Shape;100;p31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01" name="Google Shape;101;p31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2"/>
          <p:cNvSpPr txBox="1"/>
          <p:nvPr/>
        </p:nvSpPr>
        <p:spPr>
          <a:xfrm>
            <a:off x="626825" y="1458250"/>
            <a:ext cx="43116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En base a lo aprendido de toda la estructura de computadoras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vamos a proceder a armar diferentes computadoras en base a necesidades de uso determinadas y compatibilidades entre sus diferentes componentes.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Vamos a armar 9 computadoras de 3 gamas diferentes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(gama alta, media y baja) en donde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habrá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que determinar los componentes compatibles a cada uno.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32"/>
          <p:cNvSpPr txBox="1"/>
          <p:nvPr/>
        </p:nvSpPr>
        <p:spPr>
          <a:xfrm>
            <a:off x="616575" y="608150"/>
            <a:ext cx="311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08" name="Google Shape;1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575" y="1798678"/>
            <a:ext cx="5183201" cy="291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449" y="1290212"/>
            <a:ext cx="1951852" cy="109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1575" y="962650"/>
            <a:ext cx="3116401" cy="175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/>
        </p:nvSpPr>
        <p:spPr>
          <a:xfrm>
            <a:off x="3609750" y="1495200"/>
            <a:ext cx="33960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Detalles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16" name="Google Shape;116;p33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17" name="Google Shape;117;p33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/>
          <p:nvPr/>
        </p:nvSpPr>
        <p:spPr>
          <a:xfrm>
            <a:off x="616625" y="614050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Detalles de armado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23" name="Google Shape;123;p34"/>
          <p:cNvSpPr txBox="1"/>
          <p:nvPr/>
        </p:nvSpPr>
        <p:spPr>
          <a:xfrm>
            <a:off x="626875" y="1468150"/>
            <a:ext cx="40584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Para el armado vamos a tener un cuadro de especificaciones donde tendremos separado.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Procesador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Placa madre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Memoria primaria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Memoria secundaria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GPU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(si es que fuera necesario)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805000" y="1427450"/>
            <a:ext cx="37896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Deberemos armar 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computadoras por gama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, donde cada una de estas  serán o compatibles con </a:t>
            </a:r>
            <a:r>
              <a:rPr b="1"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Intel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b="1"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AMD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El tercer ordenador debe ser armado a libre criterio del estudiante.</a:t>
            </a:r>
            <a:endParaRPr b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718" y="3197050"/>
            <a:ext cx="2899758" cy="16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075" y="3440613"/>
            <a:ext cx="2164157" cy="1217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/>
          <p:nvPr/>
        </p:nvSpPr>
        <p:spPr>
          <a:xfrm>
            <a:off x="4852000" y="1624475"/>
            <a:ext cx="3498000" cy="26157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2296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82296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35"/>
          <p:cNvSpPr txBox="1"/>
          <p:nvPr/>
        </p:nvSpPr>
        <p:spPr>
          <a:xfrm>
            <a:off x="614975" y="615475"/>
            <a:ext cx="18393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Detalles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3" name="Google Shape;133;p35"/>
          <p:cNvSpPr txBox="1"/>
          <p:nvPr/>
        </p:nvSpPr>
        <p:spPr>
          <a:xfrm>
            <a:off x="614975" y="1469575"/>
            <a:ext cx="3765600" cy="28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¿Por qué esta actividad?¿Sirve este ejercicio de armar computadoras?</a:t>
            </a:r>
            <a:endParaRPr b="1" sz="17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la hora de trabajar en un ambiente laboral, las computadoras son una parte esencial del trabajo día a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día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, por lo cual la habilidad de poder armar una a base de ciertas especificaciones es una habilidad necesaria para el profesional de IT.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4" name="Google Shape;134;p35"/>
          <p:cNvSpPr txBox="1"/>
          <p:nvPr/>
        </p:nvSpPr>
        <p:spPr>
          <a:xfrm>
            <a:off x="5082850" y="1767800"/>
            <a:ext cx="30561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Recordemos que 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para</a:t>
            </a:r>
            <a:endParaRPr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los diferentes componentes existen ciertas 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características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como 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los </a:t>
            </a:r>
            <a:r>
              <a:rPr b="1"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sockets, fr</a:t>
            </a:r>
            <a:r>
              <a:rPr b="1"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ecuencia y conectores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los cuales hay que tener </a:t>
            </a:r>
            <a:r>
              <a:rPr b="1"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cuenta </a:t>
            </a:r>
            <a:r>
              <a:rPr lang="e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para la compatibilidad.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Especificaciones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de equipos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0" name="Google Shape;140;p36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1" name="Google Shape;141;p36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/>
        </p:nvSpPr>
        <p:spPr>
          <a:xfrm>
            <a:off x="617575" y="601850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baja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7" name="Google Shape;147;p37"/>
          <p:cNvSpPr txBox="1"/>
          <p:nvPr/>
        </p:nvSpPr>
        <p:spPr>
          <a:xfrm>
            <a:off x="627825" y="1528150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Los equipos considerados de gama baja generalmente son utilizados por personas que necesitan pocos requisitos.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Podríamos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poner el ejemplo de una persona que trabaje en una oficina con planillas de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ofimática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(Excel, Word, etc.) generalmente no necesitan GPU.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550" y="1249937"/>
            <a:ext cx="4699827" cy="264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/>
        </p:nvSpPr>
        <p:spPr>
          <a:xfrm>
            <a:off x="626925" y="6174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baja - Intel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54" name="Google Shape;154;p38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38"/>
          <p:cNvSpPr txBox="1"/>
          <p:nvPr/>
        </p:nvSpPr>
        <p:spPr>
          <a:xfrm>
            <a:off x="1020650" y="1759275"/>
            <a:ext cx="2994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38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2013425"/>
                <a:gridCol w="522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Core i3 7100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508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ASRock B150 Pro4/D3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ValueRAM 8GB 1 Kingston KVR16N11/8 - DDR3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HDD 1TB, Caché 64MB, SATA III (6 Gb/s).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9"/>
          <p:cNvSpPr txBox="1"/>
          <p:nvPr/>
        </p:nvSpPr>
        <p:spPr>
          <a:xfrm>
            <a:off x="626950" y="608050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baja - AMD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2" name="Google Shape;162;p39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39"/>
          <p:cNvSpPr txBox="1"/>
          <p:nvPr/>
        </p:nvSpPr>
        <p:spPr>
          <a:xfrm>
            <a:off x="1020650" y="1759275"/>
            <a:ext cx="2994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" name="Google Shape;164;p39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2004025"/>
                <a:gridCol w="52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Ryzen 3 2200g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Gigabyte B450M DS3H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ram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DDR4 2800 MHz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AMD Radeon RX 460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/>
          <p:nvPr/>
        </p:nvSpPr>
        <p:spPr>
          <a:xfrm>
            <a:off x="626950" y="614400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baja 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p40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40"/>
          <p:cNvSpPr txBox="1"/>
          <p:nvPr/>
        </p:nvSpPr>
        <p:spPr>
          <a:xfrm>
            <a:off x="1020650" y="1759275"/>
            <a:ext cx="2994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2" name="Google Shape;172;p40"/>
          <p:cNvGraphicFramePr/>
          <p:nvPr/>
        </p:nvGraphicFramePr>
        <p:xfrm>
          <a:off x="952500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1938175"/>
                <a:gridCol w="5300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Intel Celeron G3930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ASUS Prime Z270-a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DDR3L-1333/1600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Disco duro SSD 860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" name="Google Shape;173;p40"/>
          <p:cNvSpPr txBox="1"/>
          <p:nvPr/>
        </p:nvSpPr>
        <p:spPr>
          <a:xfrm>
            <a:off x="626950" y="1534325"/>
            <a:ext cx="8070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Esta computadora debe ser armada a libre criterio del estudiante.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/>
        </p:nvSpPr>
        <p:spPr>
          <a:xfrm>
            <a:off x="62695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media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9" name="Google Shape;179;p41"/>
          <p:cNvSpPr txBox="1"/>
          <p:nvPr/>
        </p:nvSpPr>
        <p:spPr>
          <a:xfrm>
            <a:off x="637200" y="14621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Los equipos considerados de gama media son utilizados por personas con requisitos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más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exigentes que la gama baja. Podríamos poner el ejemplo que se trabaje en desarrollo con herramientas ligeras (VS code, Mysql, etc.) o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también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gaming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con exigencias medias, pueden llevar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GPU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850" y="1156575"/>
            <a:ext cx="5098148" cy="28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/>
        </p:nvSpPr>
        <p:spPr>
          <a:xfrm>
            <a:off x="62695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media - Intel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86" name="Google Shape;186;p42"/>
          <p:cNvSpPr txBox="1"/>
          <p:nvPr/>
        </p:nvSpPr>
        <p:spPr>
          <a:xfrm>
            <a:off x="806450" y="1534325"/>
            <a:ext cx="361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2"/>
          <p:cNvSpPr txBox="1"/>
          <p:nvPr/>
        </p:nvSpPr>
        <p:spPr>
          <a:xfrm>
            <a:off x="10206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8" name="Google Shape;188;p42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2051050"/>
                <a:gridCol w="5187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Core i5 2500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ASRock B75 Pro3‑m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DDR3 Kingston Hyper Blu 4GB+4GB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5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SSDNow V200 120GB SATA III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GeForce GT 1030 2GD4 LP OC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/>
          <p:nvPr/>
        </p:nvSpPr>
        <p:spPr>
          <a:xfrm>
            <a:off x="617525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media - AMD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94" name="Google Shape;194;p43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43"/>
          <p:cNvSpPr txBox="1"/>
          <p:nvPr/>
        </p:nvSpPr>
        <p:spPr>
          <a:xfrm>
            <a:off x="10206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6" name="Google Shape;196;p43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1891200"/>
                <a:gridCol w="53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  <a:hlinkClick r:id="rId3"/>
                        </a:rPr>
                        <a:t>Procesador AMD Ryzen 5 2600, S-AM4, 3.40GHz, Six-Core, 16MB L3 Cache, con Disipador Wraith Stealth | YD2600BBAFBOX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A320M Asrock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636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Ram XPG Spectrix D50 Tungsten Grey DDR4, 3200MHz, 8GB, Non-ECC, CL16, XMP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  <a:hlinkClick r:id="rId4"/>
                        </a:rPr>
                        <a:t>SSD Adata Ultimate SU630, 480GB, SATA, 2.5", 7mm | ASU630SS-480GQ-R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  <a:hlinkClick r:id="rId5"/>
                        </a:rPr>
                        <a:t>Tarjeta de Video ASUS ROG Strix NVIDIA GeForce RTX 3080 Ti OC Gaming, 12GB 384-bit GDDR6X, PCI Express 4.0 | 90YV0GT1-M0NM00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 txBox="1"/>
          <p:nvPr/>
        </p:nvSpPr>
        <p:spPr>
          <a:xfrm>
            <a:off x="63635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media 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02" name="Google Shape;202;p44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4"/>
          <p:cNvSpPr txBox="1"/>
          <p:nvPr/>
        </p:nvSpPr>
        <p:spPr>
          <a:xfrm>
            <a:off x="10206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4" name="Google Shape;204;p44"/>
          <p:cNvGraphicFramePr/>
          <p:nvPr/>
        </p:nvGraphicFramePr>
        <p:xfrm>
          <a:off x="952500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1900600"/>
                <a:gridCol w="533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AMD Ryzen 3 1300X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MSI B250 Tomahawk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uFill>
                            <a:noFill/>
                          </a:uFill>
                          <a:hlinkClick r:id="rId3"/>
                        </a:rPr>
                        <a:t>Corsair 8GB DDR4-2400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636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s"/>
                        <a:t>SSD Adata Ultimate SU630 QLC 3D, 240GB, SATA, 2.5", 7mm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GeForce GTX 1050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44"/>
          <p:cNvSpPr txBox="1"/>
          <p:nvPr/>
        </p:nvSpPr>
        <p:spPr>
          <a:xfrm>
            <a:off x="636350" y="1534325"/>
            <a:ext cx="8070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Esta computadora debe ser armada a libre criterio del estudiante.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5"/>
          <p:cNvSpPr txBox="1"/>
          <p:nvPr/>
        </p:nvSpPr>
        <p:spPr>
          <a:xfrm>
            <a:off x="62695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alta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11" name="Google Shape;211;p45"/>
          <p:cNvSpPr txBox="1"/>
          <p:nvPr/>
        </p:nvSpPr>
        <p:spPr>
          <a:xfrm>
            <a:off x="637200" y="14621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Los equipos considerados de gama alta son aquellos que requieren las mejores prestaciones del mercado. Son utilizados para tareas que requieren mucho procesamiento, como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minería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datos, big data, gaming, entre otras. Generalmente utilizan 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GPU</a:t>
            </a: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2" name="Google Shape;2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636" y="1152101"/>
            <a:ext cx="5357363" cy="30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/>
          <p:nvPr/>
        </p:nvSpPr>
        <p:spPr>
          <a:xfrm>
            <a:off x="636375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alta - Intel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18" name="Google Shape;218;p46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46"/>
          <p:cNvSpPr txBox="1"/>
          <p:nvPr/>
        </p:nvSpPr>
        <p:spPr>
          <a:xfrm>
            <a:off x="10206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0" name="Google Shape;220;p4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2051025"/>
                <a:gridCol w="5187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Core i7-10700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MSI B460 TORPEDO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  <a:hlinkClick r:id="rId3"/>
                        </a:rPr>
                        <a:t>Memoria RAM XPG Spectrix D50 DDR4, 3200MHz, 8GB, Non-ECC, XMP | AX4U32008G16A-SW50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ADATA SU6320 SSD 240, 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Tarjeta Video GTX 1650 Super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/>
          <p:nvPr/>
        </p:nvSpPr>
        <p:spPr>
          <a:xfrm>
            <a:off x="636325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alta - AMD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26" name="Google Shape;226;p47"/>
          <p:cNvSpPr txBox="1"/>
          <p:nvPr/>
        </p:nvSpPr>
        <p:spPr>
          <a:xfrm>
            <a:off x="8064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47"/>
          <p:cNvSpPr txBox="1"/>
          <p:nvPr/>
        </p:nvSpPr>
        <p:spPr>
          <a:xfrm>
            <a:off x="10206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8" name="Google Shape;228;p4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1919400"/>
                <a:gridCol w="5319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Amd Ryzen 7 3800xt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Tarjeta Madre ASUS Micro ATX PRIME A520M-A II CSM, S-AM4, A520, HDMI, 128GB DDR4 para AMD | PRIME A520M-A II/CSM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RAM Kingston FURY Beast Black DDR4, 2666MHz, 8GB, Non-ECC, CL16, XMP | KF426C16BB/8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Disco Duro Interno Seagate Barracuda 3.5'', 2TB, SATA III, 6 Gbit/s, 7200RPM, 256MB Cache | ST2000DM008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Tarjetas de Video ASUS NVIDIA GeForce GT 1030, 2GB 64-bit GDDR5, PCI Express 3.0 | 90YV0AU0-M0NA00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/>
        </p:nvSpPr>
        <p:spPr>
          <a:xfrm>
            <a:off x="64380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Gama alta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34" name="Google Shape;234;p48"/>
          <p:cNvSpPr txBox="1"/>
          <p:nvPr/>
        </p:nvSpPr>
        <p:spPr>
          <a:xfrm>
            <a:off x="654050" y="1534325"/>
            <a:ext cx="36150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48"/>
          <p:cNvSpPr txBox="1"/>
          <p:nvPr/>
        </p:nvSpPr>
        <p:spPr>
          <a:xfrm>
            <a:off x="868250" y="1759275"/>
            <a:ext cx="29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48"/>
          <p:cNvGraphicFramePr/>
          <p:nvPr/>
        </p:nvGraphicFramePr>
        <p:xfrm>
          <a:off x="952500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{22368D59-321F-4CD7-AFA2-FE1E03D43410}</a:tableStyleId>
              </a:tblPr>
              <a:tblGrid>
                <a:gridCol w="1947600"/>
                <a:gridCol w="529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Procesador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AMD Ryzen 9 5950X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Placa Madre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B550 AOURUS MASTER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principal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XPG Spectrix D60G - DDR4 RGB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Memoria secundaria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Force Series MP600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AMD Radeon RX 6800xt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48"/>
          <p:cNvSpPr txBox="1"/>
          <p:nvPr/>
        </p:nvSpPr>
        <p:spPr>
          <a:xfrm>
            <a:off x="643800" y="1534325"/>
            <a:ext cx="8070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Esta computadora debe ser armada a libre criterio del estudiante.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9"/>
          <p:cNvSpPr txBox="1"/>
          <p:nvPr/>
        </p:nvSpPr>
        <p:spPr>
          <a:xfrm>
            <a:off x="3609750" y="1495200"/>
            <a:ext cx="36369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Entrega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43" name="Google Shape;243;p49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44" name="Google Shape;244;p49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/>
        </p:nvSpPr>
        <p:spPr>
          <a:xfrm>
            <a:off x="625950" y="608025"/>
            <a:ext cx="7679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82275" spcFirstLastPara="1" rIns="82275" wrap="square" tIns="41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Entrega</a:t>
            </a:r>
            <a:endParaRPr b="1" sz="3000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50" name="Google Shape;250;p50"/>
          <p:cNvSpPr txBox="1"/>
          <p:nvPr/>
        </p:nvSpPr>
        <p:spPr>
          <a:xfrm>
            <a:off x="636200" y="1534325"/>
            <a:ext cx="41853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 subir a su mochila del viajero un archivo del formato que prefiera (.pdf, .doc, .xls) con el detalle de los diferentes equipos que armó.</a:t>
            </a:r>
            <a:endParaRPr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1" name="Google Shape;2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875" y="1250925"/>
            <a:ext cx="3270427" cy="183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200" y="1418864"/>
            <a:ext cx="2902574" cy="163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7350" y="2153639"/>
            <a:ext cx="2902574" cy="163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